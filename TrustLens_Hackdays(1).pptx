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6"/>
  </p:notesMasterIdLst>
  <p:sldIdLst>
    <p:sldId id="256" r:id="rId2"/>
    <p:sldId id="257" r:id="rId3"/>
    <p:sldId id="258" r:id="rId4"/>
    <p:sldId id="259" r:id="rId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5" d="100"/>
          <a:sy n="115" d="100"/>
        </p:scale>
        <p:origin x="514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56639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_rels/slide3.xml.rels><?xml version="1.0" encoding="UTF-8" standalone="yes"?>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5.png"/><Relationship Id="rId6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3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19088" y="361950"/>
            <a:ext cx="1143000" cy="483294"/>
          </a:xfrm>
          <a:prstGeom prst="rect">
            <a:avLst/>
          </a:prstGeom>
        </p:spPr>
      </p:pic>
      <p:pic>
        <p:nvPicPr>
          <p:cNvPr id="3" name="Object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615238" y="176213"/>
            <a:ext cx="1297305" cy="810816"/>
          </a:xfrm>
          <a:prstGeom prst="rect">
            <a:avLst/>
          </a:prstGeom>
        </p:spPr>
      </p:pic>
      <p:sp>
        <p:nvSpPr>
          <p:cNvPr id="5" name="Object4"/>
          <p:cNvSpPr/>
          <p:nvPr/>
        </p:nvSpPr>
        <p:spPr>
          <a:xfrm>
            <a:off x="1371600" y="681038"/>
            <a:ext cx="6400800" cy="148751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ctr"/>
            <a:r>
              <a:rPr lang="en-US" sz="4900" b="0" i="0" dirty="0">
                <a:solidFill>
                  <a:srgbClr val="FFFFFF"/>
                </a:solidFill>
                <a:latin typeface="Coolvetica" pitchFamily="34" charset="0"/>
                <a:ea typeface="Coolvetica" pitchFamily="34" charset="-122"/>
                <a:cs typeface="Coolvetica" pitchFamily="34" charset="-120"/>
              </a:rPr>
              <a:t>HACKDA</a:t>
            </a:r>
            <a:r>
              <a:rPr lang="en-US" sz="4900" dirty="0">
                <a:solidFill>
                  <a:srgbClr val="FFFFFF"/>
                </a:solidFill>
                <a:latin typeface="Coolvetica" pitchFamily="34" charset="0"/>
                <a:ea typeface="Coolvetica" pitchFamily="34" charset="-122"/>
                <a:cs typeface="Coolvetica" pitchFamily="34" charset="-120"/>
              </a:rPr>
              <a:t>Y</a:t>
            </a:r>
            <a:r>
              <a:rPr lang="en-US" sz="4900" b="0" i="0" dirty="0">
                <a:solidFill>
                  <a:srgbClr val="FFFFFF"/>
                </a:solidFill>
                <a:latin typeface="Coolvetica" pitchFamily="34" charset="0"/>
                <a:ea typeface="Coolvetica" pitchFamily="34" charset="-122"/>
                <a:cs typeface="Coolvetica" pitchFamily="34" charset="-120"/>
              </a:rPr>
              <a:t>S</a:t>
            </a:r>
            <a:endParaRPr lang="en-US" sz="4863" dirty="0"/>
          </a:p>
        </p:txBody>
      </p:sp>
      <p:pic>
        <p:nvPicPr>
          <p:cNvPr id="6" name="Object 5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829050" y="304800"/>
            <a:ext cx="1281113" cy="474012"/>
          </a:xfrm>
          <a:prstGeom prst="rect">
            <a:avLst/>
          </a:prstGeom>
        </p:spPr>
      </p:pic>
      <p:sp>
        <p:nvSpPr>
          <p:cNvPr id="101" name="Details 101"/>
          <p:cNvSpPr txBox="1"/>
          <p:nvPr/>
        </p:nvSpPr>
        <p:spPr>
          <a:xfrm>
            <a:off x="320040" y="2331720"/>
            <a:ext cx="7680960" cy="23774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600"/>
              </a:spcAft>
              <a:buNone/>
            </a:pPr>
            <a:r>
              <a:rPr lang="en-IN" sz="1500" b="0" dirty="0">
                <a:solidFill>
                  <a:srgbClr val="A0A0AE"/>
                </a:solidFill>
                <a:latin typeface="Coolvetica"/>
                <a:cs typeface="Coolvetica"/>
              </a:rPr>
              <a:t>Team Name:  </a:t>
            </a:r>
            <a:r>
              <a:rPr lang="en-IN" sz="1500" b="0" dirty="0">
                <a:solidFill>
                  <a:srgbClr val="FFFFFF"/>
                </a:solidFill>
                <a:latin typeface="Coolvetica"/>
                <a:cs typeface="Coolvetica"/>
              </a:rPr>
              <a:t>Astaroth</a:t>
            </a:r>
          </a:p>
          <a:p>
            <a:pPr algn="l">
              <a:spcAft>
                <a:spcPts val="600"/>
              </a:spcAft>
              <a:buNone/>
            </a:pPr>
            <a:r>
              <a:rPr lang="en-IN" sz="1500" b="0" dirty="0">
                <a:solidFill>
                  <a:srgbClr val="A0A0AE"/>
                </a:solidFill>
                <a:latin typeface="Coolvetica"/>
                <a:cs typeface="Coolvetica"/>
              </a:rPr>
              <a:t>Track:  </a:t>
            </a:r>
            <a:r>
              <a:rPr lang="en-IN" sz="1500" b="0" dirty="0">
                <a:solidFill>
                  <a:srgbClr val="FFFFFF"/>
                </a:solidFill>
                <a:latin typeface="Coolvetica"/>
                <a:cs typeface="Coolvetica"/>
              </a:rPr>
              <a:t>Trust in a Synthetic World</a:t>
            </a:r>
          </a:p>
          <a:p>
            <a:pPr algn="l">
              <a:spcAft>
                <a:spcPts val="600"/>
              </a:spcAft>
              <a:buNone/>
            </a:pPr>
            <a:r>
              <a:rPr lang="en-IN" sz="1500" b="0" dirty="0">
                <a:solidFill>
                  <a:srgbClr val="A0A0AE"/>
                </a:solidFill>
                <a:latin typeface="Coolvetica"/>
                <a:cs typeface="Coolvetica"/>
              </a:rPr>
              <a:t>Problem Statement:  </a:t>
            </a:r>
            <a:r>
              <a:rPr lang="en-IN" sz="1500" b="0" dirty="0">
                <a:solidFill>
                  <a:srgbClr val="FFFFFF"/>
                </a:solidFill>
                <a:latin typeface="Coolvetica"/>
                <a:cs typeface="Coolvetica"/>
              </a:rPr>
              <a:t>Verify &amp; Secure: detecting deception, phishing and fraud</a:t>
            </a:r>
          </a:p>
          <a:p>
            <a:pPr algn="l">
              <a:spcAft>
                <a:spcPts val="600"/>
              </a:spcAft>
              <a:buNone/>
            </a:pPr>
            <a:r>
              <a:rPr lang="en-IN" sz="1500" b="0" dirty="0">
                <a:solidFill>
                  <a:srgbClr val="A0A0AE"/>
                </a:solidFill>
                <a:latin typeface="Coolvetica"/>
                <a:cs typeface="Coolvetica"/>
              </a:rPr>
              <a:t>Solution:  </a:t>
            </a:r>
            <a:r>
              <a:rPr lang="en-IN" sz="1500" b="0" dirty="0">
                <a:solidFill>
                  <a:srgbClr val="8AB4F8"/>
                </a:solidFill>
                <a:latin typeface="Coolvetica"/>
                <a:cs typeface="Coolvetica"/>
              </a:rPr>
              <a:t>TrustLens</a:t>
            </a:r>
            <a:r>
              <a:rPr lang="en-IN" sz="1500" b="0" dirty="0">
                <a:solidFill>
                  <a:srgbClr val="FFFFFF"/>
                </a:solidFill>
                <a:latin typeface="Coolvetica"/>
                <a:cs typeface="Coolvetica"/>
              </a:rPr>
              <a:t>  |  scam detection where every flag comes with proof</a:t>
            </a:r>
          </a:p>
          <a:p>
            <a:pPr algn="l">
              <a:spcAft>
                <a:spcPts val="0"/>
              </a:spcAft>
              <a:buNone/>
            </a:pPr>
            <a:r>
              <a:rPr lang="en-IN" sz="1500" b="0" dirty="0">
                <a:solidFill>
                  <a:srgbClr val="A0A0AE"/>
                </a:solidFill>
                <a:latin typeface="Coolvetica"/>
                <a:cs typeface="Coolvetica"/>
              </a:rPr>
              <a:t>Team Members:  </a:t>
            </a:r>
            <a:r>
              <a:rPr lang="en-IN" sz="1500" b="0" dirty="0">
                <a:solidFill>
                  <a:srgbClr val="FFFFFF"/>
                </a:solidFill>
                <a:latin typeface="Coolvetica"/>
                <a:cs typeface="Coolvetica"/>
              </a:rPr>
              <a:t>Ravi Shashi Netre (NNM24CB045)</a:t>
            </a:r>
          </a:p>
          <a:p>
            <a:pPr algn="l">
              <a:spcAft>
                <a:spcPts val="0"/>
              </a:spcAft>
              <a:buNone/>
            </a:pPr>
            <a:r>
              <a:rPr lang="en-IN" sz="1500" b="0" dirty="0">
                <a:solidFill>
                  <a:srgbClr val="0E0E0E"/>
                </a:solidFill>
                <a:latin typeface="Coolvetica"/>
                <a:cs typeface="Coolvetica"/>
              </a:rPr>
              <a:t>Team Members:  </a:t>
            </a:r>
            <a:r>
              <a:rPr lang="en-IN" sz="1500" b="0" dirty="0">
                <a:solidFill>
                  <a:srgbClr val="FFFFFF"/>
                </a:solidFill>
                <a:latin typeface="Coolvetica"/>
                <a:cs typeface="Coolvetica"/>
              </a:rPr>
              <a:t>Jeevan Nayak (NNM24CB030)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19088" y="280988"/>
            <a:ext cx="1481138" cy="626269"/>
          </a:xfrm>
          <a:prstGeom prst="rect">
            <a:avLst/>
          </a:prstGeom>
        </p:spPr>
      </p:pic>
      <p:pic>
        <p:nvPicPr>
          <p:cNvPr id="3" name="Object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348538" y="142875"/>
            <a:ext cx="1447800" cy="904875"/>
          </a:xfrm>
          <a:prstGeom prst="rect">
            <a:avLst/>
          </a:prstGeom>
        </p:spPr>
      </p:pic>
      <p:sp>
        <p:nvSpPr>
          <p:cNvPr id="4" name="Object3"/>
          <p:cNvSpPr/>
          <p:nvPr/>
        </p:nvSpPr>
        <p:spPr>
          <a:xfrm>
            <a:off x="495300" y="1185863"/>
            <a:ext cx="5486400" cy="90796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/>
            <a:r>
              <a:rPr lang="en-US" sz="3000" b="0" i="0" dirty="0">
                <a:solidFill>
                  <a:srgbClr val="FFFFFF"/>
                </a:solidFill>
                <a:latin typeface="Coolvetica" pitchFamily="34" charset="0"/>
                <a:ea typeface="Coolvetica" pitchFamily="34" charset="-122"/>
                <a:cs typeface="Coolvetica" pitchFamily="34" charset="-120"/>
              </a:rPr>
              <a:t>WHAT’S THE IDEA?</a:t>
            </a:r>
            <a:endParaRPr lang="en-US" sz="2968" dirty="0"/>
          </a:p>
        </p:txBody>
      </p:sp>
      <p:pic>
        <p:nvPicPr>
          <p:cNvPr id="5" name="Object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829050" y="304800"/>
            <a:ext cx="1281113" cy="474012"/>
          </a:xfrm>
          <a:prstGeom prst="rect">
            <a:avLst/>
          </a:prstGeom>
        </p:spPr>
      </p:pic>
      <p:sp>
        <p:nvSpPr>
          <p:cNvPr id="102" name="Idea 102"/>
          <p:cNvSpPr txBox="1"/>
          <p:nvPr/>
        </p:nvSpPr>
        <p:spPr>
          <a:xfrm>
            <a:off x="585216" y="2011680"/>
            <a:ext cx="4526280" cy="2743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400"/>
              </a:spcAft>
              <a:buNone/>
            </a:pPr>
            <a:r>
              <a:rPr lang="en-IN" sz="1100" b="1" spc="150" dirty="0">
                <a:solidFill>
                  <a:srgbClr val="8AB4F8"/>
                </a:solidFill>
                <a:latin typeface="Calibri"/>
                <a:cs typeface="Calibri"/>
              </a:rPr>
              <a:t>THE PROBLEM</a:t>
            </a:r>
          </a:p>
          <a:p>
            <a:pPr algn="l">
              <a:lnSpc>
                <a:spcPct val="105000"/>
              </a:lnSpc>
              <a:spcAft>
                <a:spcPts val="1400"/>
              </a:spcAft>
              <a:buNone/>
            </a:pPr>
            <a:r>
              <a:rPr lang="en-IN" sz="1300" b="0" dirty="0">
                <a:solidFill>
                  <a:srgbClr val="E4E4EC"/>
                </a:solidFill>
                <a:latin typeface="Calibri"/>
                <a:cs typeface="Calibri"/>
              </a:rPr>
              <a:t>Scams reach Indians every day on WhatsApp, SMS and email: fake KYC deadlines, courier alerts, lookalike bank links. They are built to make people act before they think, and inbox filters miss the details a careful reader would catch.</a:t>
            </a:r>
          </a:p>
          <a:p>
            <a:pPr algn="l">
              <a:spcAft>
                <a:spcPts val="400"/>
              </a:spcAft>
              <a:buNone/>
            </a:pPr>
            <a:r>
              <a:rPr lang="en-IN" sz="1100" b="1" spc="150" dirty="0">
                <a:solidFill>
                  <a:srgbClr val="C3A6FF"/>
                </a:solidFill>
                <a:latin typeface="Calibri"/>
                <a:cs typeface="Calibri"/>
              </a:rPr>
              <a:t>THE SOLUTION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1300" b="1" dirty="0">
                <a:solidFill>
                  <a:srgbClr val="FFFFFF"/>
                </a:solidFill>
                <a:latin typeface="Calibri"/>
                <a:cs typeface="Calibri"/>
              </a:rPr>
              <a:t>TrustLens</a:t>
            </a:r>
            <a:r>
              <a:rPr lang="en-IN" sz="1300" b="0" dirty="0">
                <a:solidFill>
                  <a:srgbClr val="E4E4EC"/>
                </a:solidFill>
                <a:latin typeface="Calibri"/>
                <a:cs typeface="Calibri"/>
              </a:rPr>
              <a:t>: share any suspicious message, link or screenshot and get a Trust Report in seconds. It shows a risk level, every red flag with the evidence behind it, and exactly what to do next, in English, Kannada or Hindi.</a:t>
            </a:r>
          </a:p>
        </p:txBody>
      </p:sp>
      <p:sp>
        <p:nvSpPr>
          <p:cNvPr id="103" name="Stat card 103"/>
          <p:cNvSpPr txBox="0"/>
          <p:nvPr/>
        </p:nvSpPr>
        <p:spPr>
          <a:xfrm>
            <a:off x="5394960" y="2057400"/>
            <a:ext cx="3063240" cy="2286000"/>
          </a:xfrm>
          <a:prstGeom prst="roundRect">
            <a:avLst>
              <a:gd name="adj" fmla="val 8000"/>
            </a:avLst>
          </a:prstGeom>
          <a:solidFill>
            <a:srgbClr val="17152A"/>
          </a:solidFill>
          <a:ln w="12700">
            <a:solidFill>
              <a:srgbClr val="4A3F8A"/>
            </a:solidFill>
          </a:ln>
        </p:spPr>
        <p:txBody>
          <a:bodyPr wrap="square" lIns="0" tIns="0" rIns="0" bIns="0" rtlCol="0" anchor="t">
            <a:noAutofit/>
          </a:bodyPr>
          <a:lstStyle/>
          <a:p>
            <a:endParaRPr lang="en-IN"/>
          </a:p>
        </p:txBody>
      </p:sp>
      <p:sp>
        <p:nvSpPr>
          <p:cNvPr id="104" name="Stats 104"/>
          <p:cNvSpPr txBox="1"/>
          <p:nvPr/>
        </p:nvSpPr>
        <p:spPr>
          <a:xfrm>
            <a:off x="5623560" y="2194560"/>
            <a:ext cx="2651760" cy="21031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IN" sz="3400" b="1" dirty="0">
                <a:solidFill>
                  <a:srgbClr val="8AB4F8"/>
                </a:solidFill>
                <a:latin typeface="Calibri"/>
                <a:cs typeface="Calibri"/>
              </a:rPr>
              <a:t>₹22,845 Cr</a:t>
            </a:r>
          </a:p>
          <a:p>
            <a:pPr algn="l">
              <a:spcAft>
                <a:spcPts val="1600"/>
              </a:spcAft>
              <a:buNone/>
            </a:pPr>
            <a:r>
              <a:rPr lang="en-IN" sz="1200" b="0" dirty="0">
                <a:solidFill>
                  <a:srgbClr val="E4E4EC"/>
                </a:solidFill>
                <a:latin typeface="Calibri"/>
                <a:cs typeface="Calibri"/>
              </a:rPr>
              <a:t>lost to cyber fraud in India in 2024</a:t>
            </a:r>
          </a:p>
          <a:p>
            <a:pPr algn="l">
              <a:spcAft>
                <a:spcPts val="0"/>
              </a:spcAft>
              <a:buNone/>
            </a:pPr>
            <a:r>
              <a:rPr lang="en-IN" sz="3400" b="1" dirty="0">
                <a:solidFill>
                  <a:srgbClr val="C3A6FF"/>
                </a:solidFill>
                <a:latin typeface="Calibri"/>
                <a:cs typeface="Calibri"/>
              </a:rPr>
              <a:t>206%</a:t>
            </a:r>
          </a:p>
          <a:p>
            <a:pPr algn="l">
              <a:spcAft>
                <a:spcPts val="1600"/>
              </a:spcAft>
              <a:buNone/>
            </a:pPr>
            <a:r>
              <a:rPr lang="en-IN" sz="1200" b="0" dirty="0">
                <a:solidFill>
                  <a:srgbClr val="E4E4EC"/>
                </a:solidFill>
                <a:latin typeface="Calibri"/>
                <a:cs typeface="Calibri"/>
              </a:rPr>
              <a:t>jump in losses over 2023</a:t>
            </a:r>
          </a:p>
          <a:p>
            <a:pPr algn="l">
              <a:spcAft>
                <a:spcPts val="0"/>
              </a:spcAft>
              <a:buNone/>
            </a:pPr>
            <a:r>
              <a:rPr lang="en-IN" sz="900" b="0" dirty="0">
                <a:solidFill>
                  <a:srgbClr val="A0A0AE"/>
                </a:solidFill>
                <a:latin typeface="Calibri"/>
                <a:cs typeface="Calibri"/>
              </a:rPr>
              <a:t>Source: MHA written reply, Lok Sabha, July 2025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19088" y="280988"/>
            <a:ext cx="1481138" cy="626269"/>
          </a:xfrm>
          <a:prstGeom prst="rect">
            <a:avLst/>
          </a:prstGeom>
        </p:spPr>
      </p:pic>
      <p:pic>
        <p:nvPicPr>
          <p:cNvPr id="3" name="Object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348538" y="142875"/>
            <a:ext cx="1447800" cy="904875"/>
          </a:xfrm>
          <a:prstGeom prst="rect">
            <a:avLst/>
          </a:prstGeom>
        </p:spPr>
      </p:pic>
      <p:sp>
        <p:nvSpPr>
          <p:cNvPr id="4" name="Object3"/>
          <p:cNvSpPr/>
          <p:nvPr/>
        </p:nvSpPr>
        <p:spPr>
          <a:xfrm>
            <a:off x="495300" y="1185863"/>
            <a:ext cx="4389120" cy="90796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/>
            <a:r>
              <a:rPr lang="en-US" sz="3000" b="0" i="0" dirty="0">
                <a:solidFill>
                  <a:srgbClr val="FFFFFF"/>
                </a:solidFill>
                <a:latin typeface="Coolvetica" pitchFamily="34" charset="0"/>
                <a:ea typeface="Coolvetica" pitchFamily="34" charset="-122"/>
                <a:cs typeface="Coolvetica" pitchFamily="34" charset="-120"/>
              </a:rPr>
              <a:t>WHAT’S THE TWIST?</a:t>
            </a:r>
            <a:endParaRPr lang="en-US" sz="2968" dirty="0"/>
          </a:p>
        </p:txBody>
      </p:sp>
      <p:pic>
        <p:nvPicPr>
          <p:cNvPr id="5" name="Object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829050" y="304800"/>
            <a:ext cx="1281113" cy="474012"/>
          </a:xfrm>
          <a:prstGeom prst="rect">
            <a:avLst/>
          </a:prstGeom>
        </p:spPr>
      </p:pic>
      <p:sp>
        <p:nvSpPr>
          <p:cNvPr id="105" name="Twist intro 105"/>
          <p:cNvSpPr txBox="1"/>
          <p:nvPr/>
        </p:nvSpPr>
        <p:spPr>
          <a:xfrm>
            <a:off x="585216" y="1965960"/>
            <a:ext cx="4572000" cy="10058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1000"/>
              </a:spcAft>
              <a:buNone/>
            </a:pPr>
            <a:r>
              <a:rPr lang="en-IN" sz="1300" b="0" dirty="0">
                <a:solidFill>
                  <a:srgbClr val="A0A0AE"/>
                </a:solidFill>
                <a:latin typeface="Calibri"/>
                <a:cs typeface="Calibri"/>
              </a:rPr>
              <a:t>Blocklists only catch scams that were already reported. Plain AI checkers give verdicts you can’t verify.</a:t>
            </a:r>
          </a:p>
          <a:p>
            <a:pPr algn="l">
              <a:spcAft>
                <a:spcPts val="0"/>
              </a:spcAft>
              <a:buNone/>
            </a:pPr>
            <a:r>
              <a:rPr lang="en-IN" sz="1900" b="1" dirty="0">
                <a:solidFill>
                  <a:srgbClr val="FFFFFF"/>
                </a:solidFill>
                <a:latin typeface="Calibri"/>
                <a:cs typeface="Calibri"/>
              </a:rPr>
              <a:t>TrustLens: every flag comes with </a:t>
            </a:r>
            <a:r>
              <a:rPr lang="en-IN" sz="1900" b="1" dirty="0">
                <a:solidFill>
                  <a:srgbClr val="8AB4F8"/>
                </a:solidFill>
                <a:latin typeface="Calibri"/>
                <a:cs typeface="Calibri"/>
              </a:rPr>
              <a:t>proof.</a:t>
            </a:r>
          </a:p>
        </p:txBody>
      </p:sp>
      <p:sp>
        <p:nvSpPr>
          <p:cNvPr id="106" name="Num 106"/>
          <p:cNvSpPr txBox="0"/>
          <p:nvPr/>
        </p:nvSpPr>
        <p:spPr>
          <a:xfrm>
            <a:off x="585216" y="3145536"/>
            <a:ext cx="310896" cy="310896"/>
          </a:xfrm>
          <a:prstGeom prst="ellipse">
            <a:avLst/>
          </a:prstGeom>
          <a:solidFill>
            <a:srgbClr val="4285F4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IN" sz="1300" b="1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107" name="Pillar 107"/>
          <p:cNvSpPr txBox="1"/>
          <p:nvPr/>
        </p:nvSpPr>
        <p:spPr>
          <a:xfrm>
            <a:off x="1024128" y="3108960"/>
            <a:ext cx="40233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100"/>
              </a:spcAft>
              <a:buNone/>
            </a:pPr>
            <a:r>
              <a:rPr lang="en-IN" sz="1300" b="1" dirty="0">
                <a:solidFill>
                  <a:srgbClr val="FFFFFF"/>
                </a:solidFill>
                <a:latin typeface="Calibri"/>
                <a:cs typeface="Calibri"/>
              </a:rPr>
              <a:t>Reads like a human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150" b="0" dirty="0">
                <a:solidFill>
                  <a:srgbClr val="C8C8D2"/>
                </a:solidFill>
                <a:latin typeface="Calibri"/>
                <a:cs typeface="Calibri"/>
              </a:rPr>
              <a:t>Gemini reads text and screenshots for urgency and impersonation.</a:t>
            </a:r>
          </a:p>
        </p:txBody>
      </p:sp>
      <p:sp>
        <p:nvSpPr>
          <p:cNvPr id="108" name="Num 108"/>
          <p:cNvSpPr txBox="0"/>
          <p:nvPr/>
        </p:nvSpPr>
        <p:spPr>
          <a:xfrm>
            <a:off x="585216" y="3712464"/>
            <a:ext cx="310896" cy="310896"/>
          </a:xfrm>
          <a:prstGeom prst="ellipse">
            <a:avLst/>
          </a:prstGeom>
          <a:solidFill>
            <a:srgbClr val="3B7BD9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IN" sz="1300" b="1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109" name="Pillar 109"/>
          <p:cNvSpPr txBox="1"/>
          <p:nvPr/>
        </p:nvSpPr>
        <p:spPr>
          <a:xfrm>
            <a:off x="1024128" y="3675888"/>
            <a:ext cx="40233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100"/>
              </a:spcAft>
              <a:buNone/>
            </a:pPr>
            <a:r>
              <a:rPr lang="en-IN" sz="1300" b="1" dirty="0">
                <a:solidFill>
                  <a:srgbClr val="FFFFFF"/>
                </a:solidFill>
                <a:latin typeface="Calibri"/>
                <a:cs typeface="Calibri"/>
              </a:rPr>
              <a:t>Verifies like a machine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150" b="0" dirty="0">
                <a:solidFill>
                  <a:srgbClr val="C8C8D2"/>
                </a:solidFill>
                <a:latin typeface="Calibri"/>
                <a:cs typeface="Calibri"/>
              </a:rPr>
              <a:t>Domain age, lookalike and Safe Browsing checks back every flag.</a:t>
            </a:r>
          </a:p>
        </p:txBody>
      </p:sp>
      <p:sp>
        <p:nvSpPr>
          <p:cNvPr id="110" name="Num 110"/>
          <p:cNvSpPr txBox="0"/>
          <p:nvPr/>
        </p:nvSpPr>
        <p:spPr>
          <a:xfrm>
            <a:off x="585216" y="4279392"/>
            <a:ext cx="310896" cy="310896"/>
          </a:xfrm>
          <a:prstGeom prst="ellipse">
            <a:avLst/>
          </a:prstGeom>
          <a:solidFill>
            <a:srgbClr val="9B72CB"/>
          </a:solidFill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IN" sz="1300" b="1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111" name="Pillar 111"/>
          <p:cNvSpPr txBox="1"/>
          <p:nvPr/>
        </p:nvSpPr>
        <p:spPr>
          <a:xfrm>
            <a:off x="1024128" y="4242816"/>
            <a:ext cx="4023360" cy="47548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spcAft>
                <a:spcPts val="100"/>
              </a:spcAft>
              <a:buNone/>
            </a:pPr>
            <a:r>
              <a:rPr lang="en-IN" sz="1300" b="1" dirty="0">
                <a:solidFill>
                  <a:srgbClr val="FFFFFF"/>
                </a:solidFill>
                <a:latin typeface="Calibri"/>
                <a:cs typeface="Calibri"/>
              </a:rPr>
              <a:t>Can’t be talked out of it</a:t>
            </a:r>
          </a:p>
          <a:p>
            <a:pPr algn="l">
              <a:lnSpc>
                <a:spcPct val="100000"/>
              </a:lnSpc>
              <a:spcAft>
                <a:spcPts val="0"/>
              </a:spcAft>
              <a:buNone/>
            </a:pPr>
            <a:r>
              <a:rPr lang="en-IN" sz="1150" b="0" dirty="0">
                <a:solidFill>
                  <a:srgbClr val="C8C8D2"/>
                </a:solidFill>
                <a:latin typeface="Calibri"/>
                <a:cs typeface="Calibri"/>
              </a:rPr>
              <a:t>Messages that try to manipulate the AI get flagged as scams.</a:t>
            </a:r>
          </a:p>
        </p:txBody>
      </p:sp>
      <p:pic>
        <p:nvPicPr>
          <p:cNvPr id="112" name="Trust Report mockup" descr="TrustLens Trust Report mockup showing a high-risk verdict with three evidence-backed red flags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303520" y="1143000"/>
            <a:ext cx="3337560" cy="342313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E0E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319088" y="280988"/>
            <a:ext cx="1481138" cy="626269"/>
          </a:xfrm>
          <a:prstGeom prst="rect">
            <a:avLst/>
          </a:prstGeom>
        </p:spPr>
      </p:pic>
      <p:pic>
        <p:nvPicPr>
          <p:cNvPr id="3" name="Object 2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348538" y="142875"/>
            <a:ext cx="1447800" cy="904875"/>
          </a:xfrm>
          <a:prstGeom prst="rect">
            <a:avLst/>
          </a:prstGeom>
        </p:spPr>
      </p:pic>
      <p:sp>
        <p:nvSpPr>
          <p:cNvPr id="4" name="Object3"/>
          <p:cNvSpPr/>
          <p:nvPr/>
        </p:nvSpPr>
        <p:spPr>
          <a:xfrm>
            <a:off x="495300" y="1185863"/>
            <a:ext cx="5486400" cy="907961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algn="l"/>
            <a:r>
              <a:rPr lang="en-US" sz="3000" b="0" i="0" dirty="0">
                <a:solidFill>
                  <a:srgbClr val="FFFFFF"/>
                </a:solidFill>
                <a:latin typeface="Coolvetica" pitchFamily="34" charset="0"/>
                <a:ea typeface="Coolvetica" pitchFamily="34" charset="-122"/>
                <a:cs typeface="Coolvetica" pitchFamily="34" charset="-120"/>
              </a:rPr>
              <a:t>MAKE IT REAL</a:t>
            </a:r>
            <a:endParaRPr lang="en-US" sz="2968" dirty="0"/>
          </a:p>
        </p:txBody>
      </p:sp>
      <p:pic>
        <p:nvPicPr>
          <p:cNvPr id="5" name="Object 4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3829050" y="304800"/>
            <a:ext cx="1281113" cy="47401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46A8C37-F81E-C517-9181-D1B6CD930FF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9088" y="3154680"/>
            <a:ext cx="8362122" cy="1256095"/>
          </a:xfrm>
          <a:prstGeom prst="rect">
            <a:avLst/>
          </a:prstGeom>
        </p:spPr>
      </p:pic>
      <p:sp>
        <p:nvSpPr>
          <p:cNvPr id="113" name="MVP 113"/>
          <p:cNvSpPr txBox="1"/>
          <p:nvPr/>
        </p:nvSpPr>
        <p:spPr>
          <a:xfrm>
            <a:off x="585216" y="1920240"/>
            <a:ext cx="7680960" cy="11887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800"/>
              </a:spcAft>
              <a:buNone/>
            </a:pPr>
            <a:r>
              <a:rPr lang="en-IN" sz="1300" b="1" dirty="0">
                <a:solidFill>
                  <a:srgbClr val="FFFFFF"/>
                </a:solidFill>
                <a:latin typeface="Calibri"/>
                <a:cs typeface="Calibri"/>
              </a:rPr>
              <a:t>A working web MVP in one day. </a:t>
            </a:r>
            <a:r>
              <a:rPr lang="en-IN" sz="1300" b="0" dirty="0">
                <a:solidFill>
                  <a:srgbClr val="E4E4EC"/>
                </a:solidFill>
                <a:latin typeface="Calibri"/>
                <a:cs typeface="Calibri"/>
              </a:rPr>
              <a:t>The user uploads a screenshot or pastes a message or link. Gemini extracts the sender, links, claims and impersonated brand; hard checks verify them; Gemini then explains every flag with its evidence in a structured Trust Report.</a:t>
            </a:r>
          </a:p>
          <a:p>
            <a:pPr algn="l">
              <a:lnSpc>
                <a:spcPct val="105000"/>
              </a:lnSpc>
              <a:spcAft>
                <a:spcPts val="0"/>
              </a:spcAft>
              <a:buNone/>
            </a:pPr>
            <a:r>
              <a:rPr lang="en-IN" sz="1300" b="1" dirty="0">
                <a:solidFill>
                  <a:srgbClr val="C3A6FF"/>
                </a:solidFill>
                <a:latin typeface="Calibri"/>
                <a:cs typeface="Calibri"/>
              </a:rPr>
              <a:t>Live demo: </a:t>
            </a:r>
            <a:r>
              <a:rPr lang="en-IN" sz="1300" b="0" dirty="0">
                <a:solidFill>
                  <a:srgbClr val="E4E4EC"/>
                </a:solidFill>
                <a:latin typeface="Calibri"/>
                <a:cs typeface="Calibri"/>
              </a:rPr>
              <a:t>a real KYC scam screenshot, a prompt-injection attempt, and a genuine bank alert correctly rated safe.</a:t>
            </a:r>
          </a:p>
        </p:txBody>
      </p:sp>
      <p:sp>
        <p:nvSpPr>
          <p:cNvPr id="114" name="Stack label 114"/>
          <p:cNvSpPr txBox="1"/>
          <p:nvPr/>
        </p:nvSpPr>
        <p:spPr>
          <a:xfrm>
            <a:off x="585216" y="4507992"/>
            <a:ext cx="100584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ctr">
            <a:noAutofit/>
          </a:bodyPr>
          <a:lstStyle/>
          <a:p>
            <a:pPr algn="l">
              <a:spcAft>
                <a:spcPts val="0"/>
              </a:spcAft>
              <a:buNone/>
            </a:pPr>
            <a:r>
              <a:rPr lang="en-IN" sz="1000" b="1" spc="150" dirty="0">
                <a:solidFill>
                  <a:srgbClr val="A0A0AE"/>
                </a:solidFill>
                <a:latin typeface="Calibri"/>
                <a:cs typeface="Calibri"/>
              </a:rPr>
              <a:t>BUILT WITH</a:t>
            </a:r>
          </a:p>
        </p:txBody>
      </p:sp>
      <p:sp>
        <p:nvSpPr>
          <p:cNvPr id="115" name="Chip 115"/>
          <p:cNvSpPr txBox="0"/>
          <p:nvPr/>
        </p:nvSpPr>
        <p:spPr>
          <a:xfrm>
            <a:off x="1600200" y="4507992"/>
            <a:ext cx="685800" cy="274320"/>
          </a:xfrm>
          <a:prstGeom prst="roundRect">
            <a:avLst>
              <a:gd name="adj" fmla="val 50000"/>
            </a:avLst>
          </a:prstGeom>
          <a:solidFill>
            <a:srgbClr val="1C1C24"/>
          </a:solidFill>
          <a:ln w="12700">
            <a:solidFill>
              <a:srgbClr val="3A3A48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IN" sz="1000" b="1" dirty="0">
                <a:solidFill>
                  <a:srgbClr val="FFFFFF"/>
                </a:solidFill>
                <a:latin typeface="Calibri"/>
                <a:cs typeface="Calibri"/>
              </a:rPr>
              <a:t>React</a:t>
            </a:r>
          </a:p>
        </p:txBody>
      </p:sp>
      <p:sp>
        <p:nvSpPr>
          <p:cNvPr id="116" name="Chip 116"/>
          <p:cNvSpPr txBox="0"/>
          <p:nvPr/>
        </p:nvSpPr>
        <p:spPr>
          <a:xfrm>
            <a:off x="2395728" y="4507992"/>
            <a:ext cx="777240" cy="274320"/>
          </a:xfrm>
          <a:prstGeom prst="roundRect">
            <a:avLst>
              <a:gd name="adj" fmla="val 50000"/>
            </a:avLst>
          </a:prstGeom>
          <a:solidFill>
            <a:srgbClr val="1C1C24"/>
          </a:solidFill>
          <a:ln w="12700">
            <a:solidFill>
              <a:srgbClr val="3A3A48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IN" sz="1000" b="1" dirty="0">
                <a:solidFill>
                  <a:srgbClr val="FFFFFF"/>
                </a:solidFill>
                <a:latin typeface="Calibri"/>
                <a:cs typeface="Calibri"/>
              </a:rPr>
              <a:t>FastAPI</a:t>
            </a:r>
          </a:p>
        </p:txBody>
      </p:sp>
      <p:sp>
        <p:nvSpPr>
          <p:cNvPr id="117" name="Chip 117"/>
          <p:cNvSpPr txBox="0"/>
          <p:nvPr/>
        </p:nvSpPr>
        <p:spPr>
          <a:xfrm>
            <a:off x="3282696" y="4507992"/>
            <a:ext cx="960120" cy="274320"/>
          </a:xfrm>
          <a:prstGeom prst="roundRect">
            <a:avLst>
              <a:gd name="adj" fmla="val 50000"/>
            </a:avLst>
          </a:prstGeom>
          <a:solidFill>
            <a:srgbClr val="1C1C24"/>
          </a:solidFill>
          <a:ln w="12700">
            <a:solidFill>
              <a:srgbClr val="3A3A48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IN" sz="1000" b="1" dirty="0">
                <a:solidFill>
                  <a:srgbClr val="FFFFFF"/>
                </a:solidFill>
                <a:latin typeface="Calibri"/>
                <a:cs typeface="Calibri"/>
              </a:rPr>
              <a:t>Gemini API</a:t>
            </a:r>
          </a:p>
        </p:txBody>
      </p:sp>
      <p:sp>
        <p:nvSpPr>
          <p:cNvPr id="118" name="Chip 118"/>
          <p:cNvSpPr txBox="0"/>
          <p:nvPr/>
        </p:nvSpPr>
        <p:spPr>
          <a:xfrm>
            <a:off x="4352544" y="4507992"/>
            <a:ext cx="640080" cy="274320"/>
          </a:xfrm>
          <a:prstGeom prst="roundRect">
            <a:avLst>
              <a:gd name="adj" fmla="val 50000"/>
            </a:avLst>
          </a:prstGeom>
          <a:solidFill>
            <a:srgbClr val="1C1C24"/>
          </a:solidFill>
          <a:ln w="12700">
            <a:solidFill>
              <a:srgbClr val="3A3A48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IN" sz="1000" b="1" dirty="0">
                <a:solidFill>
                  <a:srgbClr val="FFFFFF"/>
                </a:solidFill>
                <a:latin typeface="Calibri"/>
                <a:cs typeface="Calibri"/>
              </a:rPr>
              <a:t>RDAP</a:t>
            </a:r>
          </a:p>
        </p:txBody>
      </p:sp>
      <p:sp>
        <p:nvSpPr>
          <p:cNvPr id="119" name="Chip 119"/>
          <p:cNvSpPr txBox="0"/>
          <p:nvPr/>
        </p:nvSpPr>
        <p:spPr>
          <a:xfrm>
            <a:off x="5102352" y="4507992"/>
            <a:ext cx="1600200" cy="274320"/>
          </a:xfrm>
          <a:prstGeom prst="roundRect">
            <a:avLst>
              <a:gd name="adj" fmla="val 50000"/>
            </a:avLst>
          </a:prstGeom>
          <a:solidFill>
            <a:srgbClr val="1C1C24"/>
          </a:solidFill>
          <a:ln w="12700">
            <a:solidFill>
              <a:srgbClr val="3A3A48"/>
            </a:solidFill>
          </a:ln>
        </p:spPr>
        <p:txBody>
          <a:bodyPr wrap="square" lIns="0" tIns="0" rIns="0" bIns="0" rtlCol="0" anchor="ctr">
            <a:noAutofit/>
          </a:bodyPr>
          <a:lstStyle/>
          <a:p>
            <a:pPr algn="ctr">
              <a:spcAft>
                <a:spcPts val="0"/>
              </a:spcAft>
              <a:buNone/>
            </a:pPr>
            <a:r>
              <a:rPr lang="en-IN" sz="1000" b="1" dirty="0">
                <a:solidFill>
                  <a:srgbClr val="FFFFFF"/>
                </a:solidFill>
                <a:latin typeface="Calibri"/>
                <a:cs typeface="Calibri"/>
              </a:rPr>
              <a:t>Google Safe Browsing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</TotalTime>
  <Words>444</Words>
  <Application>Microsoft Office PowerPoint</Application>
  <PresentationFormat>On-screen Show (16:9)</PresentationFormat>
  <Paragraphs>28</Paragraphs>
  <Slides>4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Coolvetica</vt:lpstr>
      <vt:lpstr>Office Theme</vt:lpstr>
      <vt:lpstr>PowerPoint Presentation</vt:lpstr>
      <vt:lpstr>PowerPoint Presentation</vt:lpstr>
      <vt:lpstr>PowerPoint Presentation</vt:lpstr>
      <vt:lpstr>PowerPoint Presentation</vt:lpstr>
    </vt:vector>
  </TitlesOfParts>
  <Company>Figma to PPT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Figma to PPT</dc:creator>
  <cp:lastModifiedBy>Ravi Shashi</cp:lastModifiedBy>
  <cp:revision>6</cp:revision>
  <dcterms:created xsi:type="dcterms:W3CDTF">2026-09-21T16:25:05Z</dcterms:created>
  <dcterms:modified xsi:type="dcterms:W3CDTF">2026-09-28T13:42:26Z</dcterms:modified>
</cp:coreProperties>
</file>